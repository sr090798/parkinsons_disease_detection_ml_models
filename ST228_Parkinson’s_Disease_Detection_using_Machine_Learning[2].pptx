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67" r:id="rId4"/>
    <p:sldId id="268" r:id="rId5"/>
    <p:sldId id="286" r:id="rId6"/>
    <p:sldId id="280" r:id="rId7"/>
    <p:sldId id="282" r:id="rId8"/>
    <p:sldId id="284" r:id="rId9"/>
    <p:sldId id="285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474"/>
    <a:srgbClr val="501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D628CB-2CA6-46A5-8D02-623F1E030E61}" v="1" dt="2025-05-01T07:56:54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89303-AC45-4DDB-9820-47D7B8397973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7B6B-187D-49D0-AAA4-7E16896A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8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CD7A-9632-E358-2274-7364397F4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475C4-2940-1B9F-DC63-9BC698191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AF486-3A82-11B7-311F-87FECE4F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924F9-F4EE-44FD-8F32-EDD8883F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D37DF-CE4B-D976-542C-77989E91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6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1412-F798-5A75-04E1-2645D1D11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DDF9-19CD-D89C-B57C-625F07930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FEB5-305F-CD87-CC9B-71267C06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F9F7A-EA7A-1052-4F60-348B3021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C1CD-B419-5391-DE57-6D00D346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2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93EE-AC4F-A109-84FB-DF532EE7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C306C-5BAB-9E61-4C00-CF8279DB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DFE82-637E-266C-AAD5-09049FA9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DB142-E018-EBA4-652B-364C30DC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A06A8-DBCD-532F-906F-66F238C4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3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6CEA-BF8A-4181-9C75-39646A94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55EAC-8D11-0B49-3F2D-47FD07BFB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77E44-A53D-8ABB-28E2-BB0CC36FE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CEFA7-BD42-A9F8-237A-BA3804C4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C391D-6DEB-1BE6-C72C-F535D2D81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0B21B-FEE0-3F93-EA77-15A629A6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5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006F-ACB0-B62A-0A59-06A70910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CC42B-88B4-2EA2-7449-8939FE02E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69A10-3D8F-AE90-B355-0C315601E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447F2-A858-8932-0E8E-ED4DB5868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AC20EF-27ED-9475-F364-4818528D0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2B73C-2EEB-12C6-F3B4-6B03175B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26D518-381C-86CE-F279-A15B60A5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BD9B5-731C-494E-0A4C-1371101A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5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BF11-3E3A-0210-5C63-899131B6D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89738-F717-86A8-8836-AF5FB5E2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B331D-B53A-C7E7-2513-CDB4240B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3AF50-C031-1FDD-49CF-ABAEF351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2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F5FE3-E9D2-94D6-6C77-2865C56F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4F8F0-8F24-D0DE-2BC0-7595F826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28E4-5A40-C9B2-F2D6-3D01DC27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34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B932-B6AD-7A23-8313-D0AF7090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B6CC4-3BF7-23E5-A456-22CFCD515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9FC22-65C5-DE93-654B-D62757C6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529B7-4E65-3FAB-BD69-FB93491B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AFCBF-0F91-2645-8430-9440ABB7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5FD5D-E1E4-3642-2F14-16DD44CB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3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95E3-0CB5-04DA-DAAD-6542A05D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95B86-02F8-A163-D844-DAA4B8650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B7037-2247-0EFB-E6E2-4039E4F93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A3EEB-0319-B2F7-4179-F6645940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57E5F-1162-1347-B047-0D3ABA85F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44F53-7688-FE78-FEF6-B123A613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5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5B04-F66B-192B-DCB3-E65FD459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3C712-15D7-9C8E-A98F-DBAA8BA15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AA9DF-B532-4BF7-9D0E-F33D0D96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C03F9-2B53-695E-8E61-B384C090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D8D22-8A96-92CE-383C-04EBC29D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5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F91001-FDF3-EFD2-B9F1-029633478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F799C-A07A-4820-A703-E0CE17DCF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F65E4-D04F-464B-B308-28721FCF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28E8D-D998-4616-DC72-6ECCCED7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5FCD3-CF04-D544-6FCD-E3C27BAB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4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8F624-9C2B-D50E-7D33-6E662169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BEA8B-79E0-5934-4040-D20C2EA2C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21270-AF11-676A-DB38-AEDE9FE29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0EDA2-4163-4183-8B37-299C7D7E23C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A8702-B477-819E-F696-7B4218CD5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BC78B-E11C-7212-CF5D-F92DF007E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DFFB9-8DC6-4AB2-BD09-33DEFCD06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0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5ED2CF67-97E2-8595-E368-4B0B210D2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52055A-646F-DBE6-2168-AC3984AB7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dirty="0"/>
              <a:t>Comparative Analysis of Machine Learning Models for Parkinson’s Disease Detection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7A6AEB0-5469-683E-016F-B97C74709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ST228  (Mini Project)</a:t>
            </a:r>
          </a:p>
          <a:p>
            <a:pPr algn="l"/>
            <a:r>
              <a:rPr lang="en-US" dirty="0"/>
              <a:t>Priyanshi Dubey | 24093</a:t>
            </a:r>
          </a:p>
          <a:p>
            <a:pPr algn="l"/>
            <a:r>
              <a:rPr lang="en-US" dirty="0"/>
              <a:t>Shivam Rathour | 24110</a:t>
            </a:r>
          </a:p>
        </p:txBody>
      </p:sp>
      <p:pic>
        <p:nvPicPr>
          <p:cNvPr id="6" name="Picture 5" descr="Scan of a human brain in a neurology clinic">
            <a:extLst>
              <a:ext uri="{FF2B5EF4-FFF2-40B4-BE49-F238E27FC236}">
                <a16:creationId xmlns:a16="http://schemas.microsoft.com/office/drawing/2014/main" id="{9969A91C-5893-95FC-463B-CAF15DB889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67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5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8FB662A8-B48C-4D95-4C5C-94C58EEC63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27000">
              <a:schemeClr val="accent1"/>
            </a:glo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E74212-C395-6393-0813-56878F96575A}"/>
              </a:ext>
            </a:extLst>
          </p:cNvPr>
          <p:cNvSpPr/>
          <p:nvPr/>
        </p:nvSpPr>
        <p:spPr>
          <a:xfrm>
            <a:off x="-432079" y="-311498"/>
            <a:ext cx="6390427" cy="16395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EA8A31-B581-5D26-67CD-0ABBA44F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16" y="238004"/>
            <a:ext cx="5602792" cy="94116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91242-EA78-1CC0-F30A-EF87C9AEC7AB}"/>
              </a:ext>
            </a:extLst>
          </p:cNvPr>
          <p:cNvSpPr txBox="1"/>
          <p:nvPr/>
        </p:nvSpPr>
        <p:spPr>
          <a:xfrm>
            <a:off x="612948" y="1756222"/>
            <a:ext cx="10962752" cy="1328023"/>
          </a:xfrm>
          <a:prstGeom prst="round2Diag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Classify individuals as healthy or Parkinson’s Disease based on voice measurements using multiple models.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20D155B-5E3B-2173-1FAB-901A3D2C2DED}"/>
              </a:ext>
            </a:extLst>
          </p:cNvPr>
          <p:cNvSpPr/>
          <p:nvPr/>
        </p:nvSpPr>
        <p:spPr>
          <a:xfrm>
            <a:off x="5871908" y="3099824"/>
            <a:ext cx="643098" cy="923047"/>
          </a:xfrm>
          <a:prstGeom prst="downArrow">
            <a:avLst/>
          </a:prstGeom>
          <a:solidFill>
            <a:srgbClr val="501000">
              <a:alpha val="4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D354A-466D-F370-500A-852868D57B8A}"/>
              </a:ext>
            </a:extLst>
          </p:cNvPr>
          <p:cNvSpPr txBox="1"/>
          <p:nvPr/>
        </p:nvSpPr>
        <p:spPr>
          <a:xfrm>
            <a:off x="3913833" y="4026593"/>
            <a:ext cx="4360983" cy="646986"/>
          </a:xfrm>
          <a:prstGeom prst="round2Diag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Target Variable: STATUS</a:t>
            </a:r>
            <a:endParaRPr lang="en-US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40D6846-9029-236A-4F58-F06AC563449C}"/>
              </a:ext>
            </a:extLst>
          </p:cNvPr>
          <p:cNvSpPr/>
          <p:nvPr/>
        </p:nvSpPr>
        <p:spPr>
          <a:xfrm rot="2251097">
            <a:off x="4482831" y="4703343"/>
            <a:ext cx="351692" cy="783704"/>
          </a:xfrm>
          <a:prstGeom prst="downArrow">
            <a:avLst>
              <a:gd name="adj1" fmla="val 50000"/>
              <a:gd name="adj2" fmla="val 89062"/>
            </a:avLst>
          </a:prstGeom>
          <a:solidFill>
            <a:srgbClr val="501000">
              <a:alpha val="4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FB08F6E-C5AD-3D66-8CA6-C6534DE15794}"/>
              </a:ext>
            </a:extLst>
          </p:cNvPr>
          <p:cNvSpPr/>
          <p:nvPr/>
        </p:nvSpPr>
        <p:spPr>
          <a:xfrm rot="19285518">
            <a:off x="7269712" y="4708709"/>
            <a:ext cx="340574" cy="783704"/>
          </a:xfrm>
          <a:prstGeom prst="downArrow">
            <a:avLst>
              <a:gd name="adj1" fmla="val 50000"/>
              <a:gd name="adj2" fmla="val 89062"/>
            </a:avLst>
          </a:prstGeom>
          <a:solidFill>
            <a:srgbClr val="501000">
              <a:alpha val="4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4AC998-F59B-7640-DBDA-CA6F8788B9EF}"/>
                  </a:ext>
                </a:extLst>
              </p:cNvPr>
              <p:cNvSpPr txBox="1"/>
              <p:nvPr/>
            </p:nvSpPr>
            <p:spPr>
              <a:xfrm>
                <a:off x="2651621" y="5667821"/>
                <a:ext cx="2431701" cy="510778"/>
              </a:xfrm>
              <a:prstGeom prst="round2Diag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𝐻𝑒𝑎𝑙𝑡h𝑦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4AC998-F59B-7640-DBDA-CA6F8788B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21" y="5667821"/>
                <a:ext cx="2431701" cy="510778"/>
              </a:xfrm>
              <a:prstGeom prst="round2DiagRect">
                <a:avLst/>
              </a:prstGeom>
              <a:blipFill>
                <a:blip r:embed="rId3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13ADA-5D40-BB99-62C4-D3567184C7B7}"/>
                  </a:ext>
                </a:extLst>
              </p:cNvPr>
              <p:cNvSpPr txBox="1"/>
              <p:nvPr/>
            </p:nvSpPr>
            <p:spPr>
              <a:xfrm>
                <a:off x="6955134" y="5664023"/>
                <a:ext cx="2639365" cy="510778"/>
              </a:xfrm>
              <a:prstGeom prst="round2DiagRect">
                <a:avLst/>
              </a:prstGeom>
              <a:solidFill>
                <a:srgbClr val="FF7474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𝑃𝑎𝑟𝑘𝑖𝑛𝑠𝑜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13ADA-5D40-BB99-62C4-D3567184C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134" y="5664023"/>
                <a:ext cx="2639365" cy="510778"/>
              </a:xfrm>
              <a:prstGeom prst="round2Diag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90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5174-62BD-9DA7-81A6-19312BC3F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C1B61481-E3BB-EC0E-FE3D-31E8A68B7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157D06-D6F2-4973-4C6B-5A4DD641E4F5}"/>
              </a:ext>
            </a:extLst>
          </p:cNvPr>
          <p:cNvSpPr/>
          <p:nvPr/>
        </p:nvSpPr>
        <p:spPr>
          <a:xfrm>
            <a:off x="-371789" y="-365125"/>
            <a:ext cx="6467789" cy="1550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9F3601-A49C-364A-1BE9-149206F9E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4" y="150724"/>
            <a:ext cx="5602792" cy="94116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  <a:cs typeface="Calibri" panose="020F0502020204030204" pitchFamily="34" charset="0"/>
              </a:rPr>
              <a:t>Data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5069D-5C01-5787-1819-336F3A1AEF31}"/>
              </a:ext>
            </a:extLst>
          </p:cNvPr>
          <p:cNvSpPr txBox="1"/>
          <p:nvPr/>
        </p:nvSpPr>
        <p:spPr>
          <a:xfrm>
            <a:off x="249451" y="1457010"/>
            <a:ext cx="7688747" cy="4188381"/>
          </a:xfrm>
          <a:prstGeom prst="round2Diag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Dataset includes various voice metrics (e.g., Jitter, Shimmer, HNR, RPDE, DFA, </a:t>
            </a:r>
            <a:r>
              <a:rPr lang="en-US" sz="2400" dirty="0" err="1">
                <a:cs typeface="Arial" panose="020B0604020202020204" pitchFamily="34" charset="0"/>
              </a:rPr>
              <a:t>etc</a:t>
            </a:r>
            <a:r>
              <a:rPr lang="en-US" sz="2400" dirty="0">
                <a:cs typeface="Arial" panose="020B0604020202020204" pitchFamily="34" charset="0"/>
              </a:rPr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Total 195 samples and 23 features.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Class imbalance: More PD patients than healthy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No missing values in any feature.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Mean, standard deviation, maximum value, minimum value, data type, etc. are determined for the datapoints under each feature.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Percentage of healthy and Parkinson’s patients is calculated.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345BD-C3D6-0C19-117B-C322A8FEE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649" y="2041399"/>
            <a:ext cx="3342656" cy="277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2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A692C-E552-9337-6144-36B3069A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960B49A5-AC20-B2C7-36D1-2DE387F0F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F4BBAF-4FF9-F2E2-3C43-48FBFE0EC683}"/>
              </a:ext>
            </a:extLst>
          </p:cNvPr>
          <p:cNvSpPr/>
          <p:nvPr/>
        </p:nvSpPr>
        <p:spPr>
          <a:xfrm>
            <a:off x="-291402" y="-170822"/>
            <a:ext cx="7931820" cy="14588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05DBD2-8B00-27A4-24E5-C7C83DFF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3" y="150724"/>
            <a:ext cx="6939227" cy="94116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  <a:cs typeface="Calibri" panose="020F0502020204030204" pitchFamily="34" charset="0"/>
              </a:rPr>
              <a:t>Dimensionality Reduction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7A11C01-6C44-7D56-92A2-8A8CA08E9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8"/>
          <a:stretch/>
        </p:blipFill>
        <p:spPr bwMode="auto">
          <a:xfrm>
            <a:off x="4677578" y="1530592"/>
            <a:ext cx="7343600" cy="517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D7FE-F9A1-B7EC-6D3D-701ED635CD04}"/>
              </a:ext>
            </a:extLst>
          </p:cNvPr>
          <p:cNvSpPr txBox="1"/>
          <p:nvPr/>
        </p:nvSpPr>
        <p:spPr>
          <a:xfrm>
            <a:off x="170822" y="1607734"/>
            <a:ext cx="4099188" cy="3739872"/>
          </a:xfrm>
          <a:prstGeom prst="round2DiagRect">
            <a:avLst>
              <a:gd name="adj1" fmla="val 29340"/>
              <a:gd name="adj2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571500" indent="-339725">
              <a:buFont typeface="Arial" panose="020B0604020202020204" pitchFamily="34" charset="0"/>
              <a:buChar char="•"/>
            </a:pPr>
            <a:r>
              <a:rPr lang="en-US" sz="2800" dirty="0"/>
              <a:t>Highly correlated features are removed from the dataset.</a:t>
            </a:r>
          </a:p>
          <a:p>
            <a:pPr marL="571500" indent="-339725">
              <a:buFont typeface="Arial" panose="020B0604020202020204" pitchFamily="34" charset="0"/>
              <a:buChar char="•"/>
            </a:pPr>
            <a:r>
              <a:rPr lang="en-US" sz="2800" dirty="0"/>
              <a:t>Now we have only 12 features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5602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BC9D-FBB4-0EF2-06CE-7492A231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88FA7664-4046-6953-6A75-C7F196696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1F803D-4F6D-89AB-9DC2-50DDB8B0DD96}"/>
              </a:ext>
            </a:extLst>
          </p:cNvPr>
          <p:cNvSpPr/>
          <p:nvPr/>
        </p:nvSpPr>
        <p:spPr>
          <a:xfrm>
            <a:off x="-371789" y="-365125"/>
            <a:ext cx="6467789" cy="1550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70AF5F-0F5B-2145-A789-E50CA449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4" y="150724"/>
            <a:ext cx="5602792" cy="94116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  <a:cs typeface="Calibri" panose="020F0502020204030204" pitchFamily="34" charset="0"/>
              </a:rPr>
              <a:t>Models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CC29A-4144-1902-2FF5-BB6166E15452}"/>
              </a:ext>
            </a:extLst>
          </p:cNvPr>
          <p:cNvSpPr txBox="1"/>
          <p:nvPr/>
        </p:nvSpPr>
        <p:spPr>
          <a:xfrm>
            <a:off x="249451" y="1457010"/>
            <a:ext cx="10311367" cy="4801314"/>
          </a:xfrm>
          <a:prstGeom prst="round2Diag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Logistic Regression</a:t>
            </a:r>
            <a:r>
              <a:rPr lang="en-US" sz="2400" dirty="0"/>
              <a:t>: Simple, interpretable baseline.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K-Nearest Neighbors</a:t>
            </a:r>
            <a:r>
              <a:rPr lang="en-US" sz="2400" dirty="0"/>
              <a:t>: Good for small datasets.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Decision Tree</a:t>
            </a:r>
            <a:r>
              <a:rPr lang="en-US" sz="2400" dirty="0"/>
              <a:t>: Handles non-linearity.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Random Forest</a:t>
            </a:r>
            <a:r>
              <a:rPr lang="en-US" sz="2400" dirty="0"/>
              <a:t>: Reduces overfitting.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AdaBoost</a:t>
            </a:r>
            <a:r>
              <a:rPr lang="en-US" sz="2400" dirty="0"/>
              <a:t>: sequentially trains models, each correcting the previous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XGBoost</a:t>
            </a:r>
            <a:r>
              <a:rPr lang="en-US" sz="2400" dirty="0"/>
              <a:t>: Powerful ensemble method and faster version of Gradient Boosting.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319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6E8F4-09F3-F162-1F7C-A6CB54EE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B38CD318-15A5-2A58-DCB0-2D082FF7CF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6CB1C5-4D0D-76BC-FC17-92CF6014BD85}"/>
              </a:ext>
            </a:extLst>
          </p:cNvPr>
          <p:cNvSpPr/>
          <p:nvPr/>
        </p:nvSpPr>
        <p:spPr>
          <a:xfrm>
            <a:off x="-371790" y="-365125"/>
            <a:ext cx="9596175" cy="1550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D1E00D-3639-60F4-B0C0-DEC19AC6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3" y="150724"/>
            <a:ext cx="8788123" cy="94116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  <a:cs typeface="Calibri" panose="020F0502020204030204" pitchFamily="34" charset="0"/>
              </a:rPr>
              <a:t>Confusion Matrix for Each Model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B1BD01-4163-5381-D14F-B2CB81456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33" y="1306287"/>
            <a:ext cx="3495675" cy="2647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AB9647F-D5A1-1B9B-50F6-3C28A7A12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625" y="1306287"/>
            <a:ext cx="3495675" cy="2647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535E691-6B8A-3D06-91EB-D4F8AD830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117" y="1306287"/>
            <a:ext cx="3495675" cy="2647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8D95CD7-8361-ED3C-3CAC-F72F6C08F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33" y="4059326"/>
            <a:ext cx="3495675" cy="2647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A33861F-8B50-56DB-6579-78767E5E2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624" y="4059326"/>
            <a:ext cx="3495675" cy="2647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AB537890-0D8B-6180-3A25-7F0F606AC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117" y="4059326"/>
            <a:ext cx="3495675" cy="2647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30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CE892-9B63-6131-8848-EB3B76A4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A7589C6A-D134-4495-DC2C-42B5B2AAFD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A751BC-A833-1412-81C4-4F20CDABE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26"/>
          <a:stretch/>
        </p:blipFill>
        <p:spPr>
          <a:xfrm>
            <a:off x="6260927" y="1336429"/>
            <a:ext cx="5761311" cy="34871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4ADE5A-F0BB-54C9-E10E-2707FF836D57}"/>
              </a:ext>
            </a:extLst>
          </p:cNvPr>
          <p:cNvSpPr/>
          <p:nvPr/>
        </p:nvSpPr>
        <p:spPr>
          <a:xfrm>
            <a:off x="-371788" y="-365125"/>
            <a:ext cx="8601388" cy="1550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6CC6AA-543F-7452-56E6-4CB808BDB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3" y="150724"/>
            <a:ext cx="7672757" cy="94116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  <a:cs typeface="Calibri" panose="020F0502020204030204" pitchFamily="34" charset="0"/>
              </a:rPr>
              <a:t>Model Comparison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F52E6B-F9A6-97CC-7747-04FDA6123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4" b="5376"/>
          <a:stretch/>
        </p:blipFill>
        <p:spPr>
          <a:xfrm>
            <a:off x="215502" y="3080018"/>
            <a:ext cx="5715572" cy="348717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14BB93-B48A-2F5E-4D81-7101E460B99B}"/>
              </a:ext>
            </a:extLst>
          </p:cNvPr>
          <p:cNvSpPr/>
          <p:nvPr/>
        </p:nvSpPr>
        <p:spPr>
          <a:xfrm>
            <a:off x="7558270" y="4950786"/>
            <a:ext cx="3414530" cy="5933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Precision  score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E42575-9DF5-5C19-3D33-88E44BF1B4E5}"/>
              </a:ext>
            </a:extLst>
          </p:cNvPr>
          <p:cNvSpPr/>
          <p:nvPr/>
        </p:nvSpPr>
        <p:spPr>
          <a:xfrm>
            <a:off x="1513087" y="2350628"/>
            <a:ext cx="2759554" cy="635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Accuracy score</a:t>
            </a:r>
          </a:p>
        </p:txBody>
      </p:sp>
    </p:spTree>
    <p:extLst>
      <p:ext uri="{BB962C8B-B14F-4D97-AF65-F5344CB8AC3E}">
        <p14:creationId xmlns:p14="http://schemas.microsoft.com/office/powerpoint/2010/main" val="401121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B0636-B759-AB39-D2F4-51E62545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45E83BD3-9F08-7EF7-4391-76DE259633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16593F-6F66-B2B7-38DA-8C37C39D7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16" b="4506"/>
          <a:stretch/>
        </p:blipFill>
        <p:spPr>
          <a:xfrm>
            <a:off x="6195803" y="1407643"/>
            <a:ext cx="5910546" cy="359277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A9C47E-D7D1-C3AF-13E9-31777103BB16}"/>
              </a:ext>
            </a:extLst>
          </p:cNvPr>
          <p:cNvSpPr/>
          <p:nvPr/>
        </p:nvSpPr>
        <p:spPr>
          <a:xfrm>
            <a:off x="-371788" y="-365125"/>
            <a:ext cx="8480808" cy="1550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57C2EF-1426-4BFA-608B-231D79FE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29" y="-37081"/>
            <a:ext cx="6173580" cy="115950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 Comparison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749F39-7EE1-05C1-4E42-8ECAB6535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6" b="5033"/>
          <a:stretch/>
        </p:blipFill>
        <p:spPr>
          <a:xfrm>
            <a:off x="190914" y="3242543"/>
            <a:ext cx="5633101" cy="342413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2BB902-D091-F8B4-1E22-9328F2CA5A1C}"/>
              </a:ext>
            </a:extLst>
          </p:cNvPr>
          <p:cNvSpPr/>
          <p:nvPr/>
        </p:nvSpPr>
        <p:spPr>
          <a:xfrm>
            <a:off x="7392473" y="5183459"/>
            <a:ext cx="3231069" cy="5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F1 Score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6F0E77-C794-8BAD-45B5-012B2E6A4D04}"/>
              </a:ext>
            </a:extLst>
          </p:cNvPr>
          <p:cNvSpPr/>
          <p:nvPr/>
        </p:nvSpPr>
        <p:spPr>
          <a:xfrm>
            <a:off x="1410167" y="2516568"/>
            <a:ext cx="3194594" cy="5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Recall Score</a:t>
            </a:r>
          </a:p>
        </p:txBody>
      </p:sp>
    </p:spTree>
    <p:extLst>
      <p:ext uri="{BB962C8B-B14F-4D97-AF65-F5344CB8AC3E}">
        <p14:creationId xmlns:p14="http://schemas.microsoft.com/office/powerpoint/2010/main" val="14923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F6AB0-227E-EB4B-A392-6A057677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557512D7-AA8C-8288-1581-0DD476748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A12F88-AD32-6AB2-606C-78EDD7557094}"/>
              </a:ext>
            </a:extLst>
          </p:cNvPr>
          <p:cNvSpPr/>
          <p:nvPr/>
        </p:nvSpPr>
        <p:spPr>
          <a:xfrm>
            <a:off x="-371789" y="-365125"/>
            <a:ext cx="10128737" cy="1550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CDA6A-9848-7BFB-45B8-666900F81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63" y="150724"/>
            <a:ext cx="9320686" cy="94116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  <a:cs typeface="Calibri" panose="020F0502020204030204" pitchFamily="34" charset="0"/>
              </a:rPr>
              <a:t>ML Models’ Performance Summary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F02C1F-B680-90C4-A2B1-EFE4F4A4A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410186"/>
              </p:ext>
            </p:extLst>
          </p:nvPr>
        </p:nvGraphicFramePr>
        <p:xfrm>
          <a:off x="580429" y="1457010"/>
          <a:ext cx="9970338" cy="5151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1514">
                  <a:extLst>
                    <a:ext uri="{9D8B030D-6E8A-4147-A177-3AD203B41FA5}">
                      <a16:colId xmlns:a16="http://schemas.microsoft.com/office/drawing/2014/main" val="1080572894"/>
                    </a:ext>
                  </a:extLst>
                </a:gridCol>
                <a:gridCol w="1421932">
                  <a:extLst>
                    <a:ext uri="{9D8B030D-6E8A-4147-A177-3AD203B41FA5}">
                      <a16:colId xmlns:a16="http://schemas.microsoft.com/office/drawing/2014/main" val="1660436114"/>
                    </a:ext>
                  </a:extLst>
                </a:gridCol>
                <a:gridCol w="1301171">
                  <a:extLst>
                    <a:ext uri="{9D8B030D-6E8A-4147-A177-3AD203B41FA5}">
                      <a16:colId xmlns:a16="http://schemas.microsoft.com/office/drawing/2014/main" val="3541591198"/>
                    </a:ext>
                  </a:extLst>
                </a:gridCol>
                <a:gridCol w="1034980">
                  <a:extLst>
                    <a:ext uri="{9D8B030D-6E8A-4147-A177-3AD203B41FA5}">
                      <a16:colId xmlns:a16="http://schemas.microsoft.com/office/drawing/2014/main" val="778080922"/>
                    </a:ext>
                  </a:extLst>
                </a:gridCol>
                <a:gridCol w="1165609">
                  <a:extLst>
                    <a:ext uri="{9D8B030D-6E8A-4147-A177-3AD203B41FA5}">
                      <a16:colId xmlns:a16="http://schemas.microsoft.com/office/drawing/2014/main" val="3269475617"/>
                    </a:ext>
                  </a:extLst>
                </a:gridCol>
                <a:gridCol w="3145132">
                  <a:extLst>
                    <a:ext uri="{9D8B030D-6E8A-4147-A177-3AD203B41FA5}">
                      <a16:colId xmlns:a16="http://schemas.microsoft.com/office/drawing/2014/main" val="78992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Precision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Recall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F1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masis MT Pro Black" panose="020F0502020204030204" pitchFamily="18" charset="0"/>
                        </a:rPr>
                        <a:t>REMARKS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48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XGBoost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 errors.</a:t>
                      </a:r>
                      <a:r>
                        <a:rPr lang="en-US" dirty="0"/>
                        <a:t> Likely the best model but there may be a possibility of overfitting.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606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Excellent overall</a:t>
                      </a:r>
                      <a:r>
                        <a:rPr lang="en-US" dirty="0"/>
                        <a:t> – High precision and recall.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48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AdaBoost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Performs equally well</a:t>
                      </a:r>
                      <a:r>
                        <a:rPr lang="en-US" dirty="0"/>
                        <a:t> as Random Forest.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485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KNN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Similar</a:t>
                      </a:r>
                      <a:r>
                        <a:rPr lang="en-US" dirty="0"/>
                        <a:t> to Random Forest and AdaBoost in this case.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09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Decision Tree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Very good recall</a:t>
                      </a:r>
                      <a:r>
                        <a:rPr lang="en-US" dirty="0"/>
                        <a:t> – good if catching positives is critical.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964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Logistic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Weakest performer</a:t>
                      </a:r>
                      <a:r>
                        <a:rPr lang="en-US" dirty="0"/>
                        <a:t> – high precision but poor recall. Not recommended alone.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35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598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9882-811E-9F39-3DEF-2B690696C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9907B929-DD68-3487-F330-7D316BD0E8A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D2F40C-6B01-C6F8-6A17-42856CC8C8F7}"/>
              </a:ext>
            </a:extLst>
          </p:cNvPr>
          <p:cNvSpPr/>
          <p:nvPr/>
        </p:nvSpPr>
        <p:spPr>
          <a:xfrm>
            <a:off x="-405113" y="-277792"/>
            <a:ext cx="6444170" cy="1541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28541-D849-2AC9-154C-9C27E7CD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509" y="161223"/>
            <a:ext cx="5602792" cy="94116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098B42-771A-1C7A-9F6B-F1EADEB14A0E}"/>
              </a:ext>
            </a:extLst>
          </p:cNvPr>
          <p:cNvSpPr txBox="1"/>
          <p:nvPr/>
        </p:nvSpPr>
        <p:spPr>
          <a:xfrm>
            <a:off x="557680" y="1424831"/>
            <a:ext cx="10962752" cy="4597003"/>
          </a:xfrm>
          <a:prstGeom prst="round2Diag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b="1" dirty="0" err="1"/>
              <a:t>XGBoost</a:t>
            </a:r>
            <a:r>
              <a:rPr lang="en-US" sz="2400" dirty="0"/>
              <a:t> is the top performer. It made zero errors in classification, indicating outstanding capability though it's essential to validate it further to ensure no overfitting.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b="1" dirty="0"/>
              <a:t>Random Forest</a:t>
            </a:r>
            <a:r>
              <a:rPr lang="en-US" sz="2400" dirty="0"/>
              <a:t>, </a:t>
            </a:r>
            <a:r>
              <a:rPr lang="en-US" sz="2400" b="1" dirty="0"/>
              <a:t>AdaBoost</a:t>
            </a:r>
            <a:r>
              <a:rPr lang="en-US" sz="2400" dirty="0"/>
              <a:t>, and </a:t>
            </a:r>
            <a:r>
              <a:rPr lang="en-US" sz="2400" b="1" dirty="0"/>
              <a:t>KNN</a:t>
            </a:r>
            <a:r>
              <a:rPr lang="en-US" sz="2400" dirty="0"/>
              <a:t> show consistently strong performance (97%+ accuracy) with excellent precision and recall. These models balance precision and recall well, making them reliable for general use without extreme complexity.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Decision Tree</a:t>
            </a:r>
            <a:r>
              <a:rPr lang="en-US" sz="2400" dirty="0"/>
              <a:t> model, though less accurate overall, its recall is competitive, which matters in sensitive cases like medical diagnosis.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b="1" dirty="0"/>
              <a:t>Logistic Regression</a:t>
            </a:r>
            <a:r>
              <a:rPr lang="en-US" sz="2400" dirty="0"/>
              <a:t> underperforms relative to the others making it unsuitable unless simplicity is the priority.</a:t>
            </a:r>
          </a:p>
        </p:txBody>
      </p:sp>
    </p:spTree>
    <p:extLst>
      <p:ext uri="{BB962C8B-B14F-4D97-AF65-F5344CB8AC3E}">
        <p14:creationId xmlns:p14="http://schemas.microsoft.com/office/powerpoint/2010/main" val="3468599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4031D6D-1475-AD3B-7E22-2CC980AE4A61}"/>
              </a:ext>
            </a:extLst>
          </p:cNvPr>
          <p:cNvSpPr txBox="1"/>
          <p:nvPr/>
        </p:nvSpPr>
        <p:spPr>
          <a:xfrm>
            <a:off x="2850877" y="1542402"/>
            <a:ext cx="6490550" cy="2387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3100" b="1" kern="1200" dirty="0">
                <a:solidFill>
                  <a:schemeClr val="tx2"/>
                </a:solidFill>
                <a:latin typeface="Alasassy Caps" pitchFamily="2" charset="0"/>
                <a:ea typeface="+mj-ea"/>
                <a:cs typeface="+mj-cs"/>
              </a:rPr>
              <a:t>Thank You!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41120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447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Alasassy Caps</vt:lpstr>
      <vt:lpstr>Amasis MT Pro Black</vt:lpstr>
      <vt:lpstr>Aptos</vt:lpstr>
      <vt:lpstr>Aptos Display</vt:lpstr>
      <vt:lpstr>Arial</vt:lpstr>
      <vt:lpstr>Calibri</vt:lpstr>
      <vt:lpstr>Cambria Math</vt:lpstr>
      <vt:lpstr>Office Theme</vt:lpstr>
      <vt:lpstr>Comparative Analysis of Machine Learning Models for Parkinson’s Disease Detection</vt:lpstr>
      <vt:lpstr>Problem Statement</vt:lpstr>
      <vt:lpstr>Data Overview</vt:lpstr>
      <vt:lpstr>Dimensionality Reduction</vt:lpstr>
      <vt:lpstr>Models used</vt:lpstr>
      <vt:lpstr>Confusion Matrix for Each Model</vt:lpstr>
      <vt:lpstr>Model Comparison</vt:lpstr>
      <vt:lpstr>Model Comparison</vt:lpstr>
      <vt:lpstr>ML Models’ Performance Summary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Rathour</dc:creator>
  <cp:lastModifiedBy>Shivam Rathour</cp:lastModifiedBy>
  <cp:revision>23</cp:revision>
  <dcterms:created xsi:type="dcterms:W3CDTF">2025-04-30T19:43:36Z</dcterms:created>
  <dcterms:modified xsi:type="dcterms:W3CDTF">2025-05-02T13:36:01Z</dcterms:modified>
</cp:coreProperties>
</file>